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Noto Sans Arabic"/>
      <p:regular r:id="rId201314"/>
    </p:embeddedFont>
    <p:embeddedFont>
      <p:font typeface="Noto Sans Arabic Medium"/>
      <p:regular r:id="rId201315"/>
    </p:embeddedFont>
    <p:embeddedFont>
      <p:font typeface="Noto Sans Arabic SemiBold"/>
      <p:regular r:id="rId201316"/>
    </p:embeddedFont>
    <p:embeddedFont>
      <p:font typeface="Noto Sans Arabic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 العرض بطرح السؤال الجوهري: هل الهاتف الذي نضعه في جيوبنا مساحة خاصة تمامًا، أم أنه بوابة مفتوحة على الفضاء العام؟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استعراض حجم البيانات الشخصية الضخمة التي نأتمن الهاتف عليها يومياً دون تفكير عميق في حجم المسؤولية.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التأكيد على أن انتشار الهاتف في المجتمع التونسي لم يعد استثناءً بل نمط حياة أساسي يمس الجميع.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التشديد على التناقض بين سهولة التقاط الصورة في غرفة المعيشة، وسرعة وصولها لجمهور لا حصر له بضغطة زر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تقديم 3 أسئلة ذهبية يطرحها المستخدم على نفسه قبل كل مشاركة، مع رابط المقال الإرشادي للجزيرة 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توضيح خطورة الأذونات التلقائية التي نمنحها للتطبيقات دون تدقيق، وحث المستخدم على ترشيدها.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استعراض 4 خطوات عملية فورية يمكن للمشاهد تطبيقها الآن لحماية جهازه وهويته الرقمية.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ختام العرض بتلخيص الرسالة وسؤال مفتوح يحفز التفكير حول مستقبل الخصوصية في عالم فائق الاتصال.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jazeera.net/tech/2026/1/29/%D9%83%D9%8A%D9%81-%D8%AA%D8%AD%D9%85%D9%8A-%D8%AE%D8%B5%D9%88%D8%B5%D9%8A%D8%AA%D9%83-%D8%B9%D9%84%D9%89-%D8%A7%D9%84%D8%A5%D9%86%D8%AA%D8%B1%D9%86%D8%AA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hyperlink" Target="https://youtu.be/1EHkudu-u0I?si=_qq58TU3bvbNtQBF" TargetMode="External"/><Relationship Id="rId7" Type="http://schemas.openxmlformats.org/officeDocument/2006/relationships/hyperlink" Target="https://youtu.be/1EHkudu-u0I?si=_qq58TU3bvbNtQBF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9042" y="2552402"/>
            <a:ext cx="5384665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4800" spc="-144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الذكي:</a:t>
            </a:r>
            <a:endParaRPr lang="ar-SA" sz="4800" dirty="0"/>
          </a:p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4800" spc="-144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خاص أم عام؟</a:t>
            </a:r>
            <a:endParaRPr lang="ar-SA" sz="4800" dirty="0"/>
          </a:p>
        </p:txBody>
      </p:sp>
      <p:sp>
        <p:nvSpPr>
          <p:cNvPr id="3" name="Text 1"/>
          <p:cNvSpPr/>
          <p:nvPr/>
        </p:nvSpPr>
        <p:spPr>
          <a:xfrm>
            <a:off x="5689458" y="4010323"/>
            <a:ext cx="599425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8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غيّر الهاتف حدود حياتنا الخاصة؟</a:t>
            </a:r>
            <a:endParaRPr lang="ar-SA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053505"/>
            <a:ext cx="543040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2800" spc="-56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هاتفك يحمل حياتك الخاصة</a:t>
            </a:r>
            <a:endParaRPr lang="ar-SA" sz="2800" dirty="0"/>
          </a:p>
        </p:txBody>
      </p:sp>
      <p:sp>
        <p:nvSpPr>
          <p:cNvPr id="4" name="Shape 1"/>
          <p:cNvSpPr/>
          <p:nvPr/>
        </p:nvSpPr>
        <p:spPr>
          <a:xfrm>
            <a:off x="5532101" y="1671340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98" y="2112367"/>
            <a:ext cx="355591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2163465"/>
            <a:ext cx="492241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ورسائل</a:t>
            </a:r>
            <a:endParaRPr lang="ar-SA" sz="1900" dirty="0"/>
          </a:p>
        </p:txBody>
      </p:sp>
      <p:sp>
        <p:nvSpPr>
          <p:cNvPr id="7" name="Text 3"/>
          <p:cNvSpPr/>
          <p:nvPr/>
        </p:nvSpPr>
        <p:spPr>
          <a:xfrm>
            <a:off x="609585" y="2619970"/>
            <a:ext cx="49224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ذكرياتك اليومية ومحادثاتك العائلية والسرية محفوظة في مكان واحد.</a:t>
            </a:r>
            <a:endParaRPr lang="ar-SA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98" y="3578523"/>
            <a:ext cx="355591" cy="355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585" y="3629620"/>
            <a:ext cx="492241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وموقع</a:t>
            </a:r>
            <a:endParaRPr lang="ar-SA" sz="1900" dirty="0"/>
          </a:p>
        </p:txBody>
      </p:sp>
      <p:sp>
        <p:nvSpPr>
          <p:cNvPr id="10" name="Text 5"/>
          <p:cNvSpPr/>
          <p:nvPr/>
        </p:nvSpPr>
        <p:spPr>
          <a:xfrm>
            <a:off x="609585" y="4086126"/>
            <a:ext cx="543040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دفتر جهات الاتصال وسجل الأماكن التي تزورها بدقة لحظية.</a:t>
            </a:r>
            <a:endParaRPr lang="ar-SA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98" y="4768453"/>
            <a:ext cx="355591" cy="355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585" y="4819551"/>
            <a:ext cx="492241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معلومات شخصية</a:t>
            </a:r>
            <a:endParaRPr lang="ar-SA" sz="1900" dirty="0"/>
          </a:p>
        </p:txBody>
      </p:sp>
      <p:sp>
        <p:nvSpPr>
          <p:cNvPr id="13" name="Text 7"/>
          <p:cNvSpPr/>
          <p:nvPr/>
        </p:nvSpPr>
        <p:spPr>
          <a:xfrm>
            <a:off x="609585" y="5276056"/>
            <a:ext cx="49224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بنكية وحسابات حساسة تجعل الجهاز بمثابة خزانة رقمية كاملة.</a:t>
            </a:r>
            <a:endParaRPr lang="ar-SA" sz="1500" dirty="0"/>
          </a:p>
        </p:txBody>
      </p:sp>
      <p:sp>
        <p:nvSpPr>
          <p:cNvPr id="14" name="Shape 8"/>
          <p:cNvSpPr/>
          <p:nvPr/>
        </p:nvSpPr>
        <p:spPr>
          <a:xfrm>
            <a:off x="609585" y="3394670"/>
            <a:ext cx="5430404" cy="12700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15" name="Shape 9"/>
          <p:cNvSpPr/>
          <p:nvPr/>
        </p:nvSpPr>
        <p:spPr>
          <a:xfrm>
            <a:off x="609585" y="4584601"/>
            <a:ext cx="5430404" cy="12700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A7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الاتصال · 2026</a:t>
            </a:r>
            <a:endParaRPr lang="ar-SA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2800" spc="-56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تونس متصلة دائمًا</a:t>
            </a:r>
            <a:endParaRPr lang="ar-SA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6099" y="1432520"/>
            <a:ext cx="6746012" cy="4407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36099" y="5919887"/>
            <a:ext cx="674601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                                                                                DataReportal – Digital 2026 Tunisia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9585" y="2612231"/>
            <a:ext cx="3820124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192" kern="100" dirty="0">
                <a:solidFill>
                  <a:srgbClr val="FF3FB4"/>
                </a:solidFill>
                <a:latin typeface="Noto Sans Arabic Medium" pitchFamily="34" charset="0"/>
                <a:ea typeface="Noto Sans Arabic Medium" pitchFamily="34" charset="-122"/>
                <a:cs typeface="Noto Sans Arabic Medium" pitchFamily="34" charset="-120"/>
              </a:rPr>
              <a:t>10.4M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09585" y="3366591"/>
            <a:ext cx="382012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2000" spc="-40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حاضر في كل مكان</a:t>
            </a:r>
            <a:endParaRPr lang="ar-SA" sz="2000" dirty="0"/>
          </a:p>
        </p:txBody>
      </p:sp>
      <p:sp>
        <p:nvSpPr>
          <p:cNvPr id="8" name="Text 5"/>
          <p:cNvSpPr/>
          <p:nvPr/>
        </p:nvSpPr>
        <p:spPr>
          <a:xfrm>
            <a:off x="609585" y="3823791"/>
            <a:ext cx="382012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أغلب سكان تونس متصلون عبر الأجهزة الذكية يوميًا، وملايين الهويات تتفاعل لحظيًا على الشبكات الاجتماعية، مما يمحو المسافة بين البيت والعالم الخارجي.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4626554" y="1432520"/>
            <a:ext cx="12700" cy="4675882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433" y="4594225"/>
            <a:ext cx="5090092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4800" spc="-144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الخاص إلى العام</a:t>
            </a:r>
            <a:endParaRPr lang="ar-SA" sz="4800" dirty="0"/>
          </a:p>
        </p:txBody>
      </p:sp>
      <p:sp>
        <p:nvSpPr>
          <p:cNvPr id="3" name="Text 1"/>
          <p:cNvSpPr/>
          <p:nvPr/>
        </p:nvSpPr>
        <p:spPr>
          <a:xfrm>
            <a:off x="5272849" y="5361285"/>
            <a:ext cx="569967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8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في البيت قد تصل إلى آلاف الأشخاص.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4977805"/>
            <a:ext cx="331084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800" dirty="0">
                <a:solidFill>
                  <a:srgbClr val="FF3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النشر سريع… والانتشار أسرع.</a:t>
            </a:r>
            <a:endParaRPr lang="ar-SA" sz="1800" dirty="0"/>
          </a:p>
        </p:txBody>
      </p:sp>
      <p:sp>
        <p:nvSpPr>
          <p:cNvPr id="5" name="Shape 3"/>
          <p:cNvSpPr/>
          <p:nvPr/>
        </p:nvSpPr>
        <p:spPr>
          <a:xfrm>
            <a:off x="4177600" y="4901605"/>
            <a:ext cx="28574" cy="483791"/>
          </a:xfrm>
          <a:prstGeom prst="roundRect">
            <a:avLst>
              <a:gd name="adj" fmla="val 50000"/>
            </a:avLst>
          </a:prstGeom>
          <a:solidFill>
            <a:srgbClr val="FF3FB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159256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304800"/>
            <a:ext cx="609584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المشاركة الواعية</a:t>
            </a:r>
            <a:endParaRPr lang="ar-SA" sz="1050" dirty="0"/>
          </a:p>
        </p:txBody>
      </p:sp>
      <p:sp>
        <p:nvSpPr>
          <p:cNvPr id="4" name="Text 2"/>
          <p:cNvSpPr/>
          <p:nvPr/>
        </p:nvSpPr>
        <p:spPr>
          <a:xfrm>
            <a:off x="6400640" y="557510"/>
            <a:ext cx="548626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3000" spc="-60" kern="1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تنشر، فكّر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11379015" y="120203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6" name="Text 4"/>
          <p:cNvSpPr/>
          <p:nvPr/>
        </p:nvSpPr>
        <p:spPr>
          <a:xfrm>
            <a:off x="10906944" y="2081113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53036" y="2049760"/>
            <a:ext cx="481109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سيرى المنشور؟</a:t>
            </a:r>
            <a:endParaRPr lang="ar-SA" sz="1900" dirty="0"/>
          </a:p>
        </p:txBody>
      </p:sp>
      <p:sp>
        <p:nvSpPr>
          <p:cNvPr id="8" name="Text 6"/>
          <p:cNvSpPr/>
          <p:nvPr/>
        </p:nvSpPr>
        <p:spPr>
          <a:xfrm>
            <a:off x="6553036" y="2506266"/>
            <a:ext cx="481109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المحتوى موجه للعائلة والأصدقاء المقربين فقط أم متاح للعموم دون قيود؟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10906944" y="3547269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3036" y="3515916"/>
            <a:ext cx="481109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أحتاج إلى نشره؟</a:t>
            </a:r>
            <a:endParaRPr lang="ar-SA" sz="1900" dirty="0"/>
          </a:p>
        </p:txBody>
      </p:sp>
      <p:sp>
        <p:nvSpPr>
          <p:cNvPr id="11" name="Text 9"/>
          <p:cNvSpPr/>
          <p:nvPr/>
        </p:nvSpPr>
        <p:spPr>
          <a:xfrm>
            <a:off x="6553036" y="3972421"/>
            <a:ext cx="481109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 اللحظات التي تستحق التوثيق عن تلك التي يُفضّل إبقاؤها حميمية وشخصية.</a:t>
            </a:r>
            <a:endParaRPr lang="ar-SA" sz="1500" dirty="0"/>
          </a:p>
        </p:txBody>
      </p:sp>
      <p:sp>
        <p:nvSpPr>
          <p:cNvPr id="12" name="Text 10"/>
          <p:cNvSpPr/>
          <p:nvPr/>
        </p:nvSpPr>
        <p:spPr>
          <a:xfrm>
            <a:off x="10906944" y="5013424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3036" y="4982071"/>
            <a:ext cx="481109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يحمي خصوصيتي؟</a:t>
            </a:r>
            <a:endParaRPr lang="ar-SA" sz="1900" dirty="0"/>
          </a:p>
        </p:txBody>
      </p:sp>
      <p:sp>
        <p:nvSpPr>
          <p:cNvPr id="14" name="Text 12"/>
          <p:cNvSpPr/>
          <p:nvPr/>
        </p:nvSpPr>
        <p:spPr>
          <a:xfrm>
            <a:off x="6553036" y="5438577"/>
            <a:ext cx="481109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تجنب إظهار المعالم المنزلية، أوراق الهوية، أو الوجوه دون إذن أصحابها.</a:t>
            </a:r>
            <a:endParaRPr lang="ar-SA" sz="1500" dirty="0"/>
          </a:p>
        </p:txBody>
      </p:sp>
      <p:pic>
        <p:nvPicPr>
          <p:cNvPr id="1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305" y="6168827"/>
            <a:ext cx="2810202" cy="523875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وأذونات</a:t>
            </a:r>
            <a:endParaRPr lang="ar-SA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2800" spc="-56" kern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تطلب الكثير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11074222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Shape 3"/>
          <p:cNvSpPr/>
          <p:nvPr/>
        </p:nvSpPr>
        <p:spPr>
          <a:xfrm>
            <a:off x="8026199" y="1680170"/>
            <a:ext cx="3555911" cy="2151955"/>
          </a:xfrm>
          <a:prstGeom prst="roundRect">
            <a:avLst>
              <a:gd name="adj" fmla="val 1328"/>
            </a:avLst>
          </a:prstGeom>
          <a:solidFill>
            <a:srgbClr val="292E43"/>
          </a:solidFill>
          <a:ln/>
        </p:spPr>
      </p:sp>
      <p:sp>
        <p:nvSpPr>
          <p:cNvPr id="6" name="Shape 4"/>
          <p:cNvSpPr/>
          <p:nvPr/>
        </p:nvSpPr>
        <p:spPr>
          <a:xfrm>
            <a:off x="10782030" y="1908770"/>
            <a:ext cx="571486" cy="571500"/>
          </a:xfrm>
          <a:prstGeom prst="ellipse">
            <a:avLst/>
          </a:prstGeom>
          <a:solidFill>
            <a:srgbClr val="FF3FB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902" y="2051645"/>
            <a:ext cx="285743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54793" y="2594570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</a:t>
            </a:r>
            <a:endParaRPr lang="ar-SA" sz="1900" dirty="0"/>
          </a:p>
        </p:txBody>
      </p:sp>
      <p:sp>
        <p:nvSpPr>
          <p:cNvPr id="9" name="Text 6"/>
          <p:cNvSpPr/>
          <p:nvPr/>
        </p:nvSpPr>
        <p:spPr>
          <a:xfrm>
            <a:off x="8026199" y="3051076"/>
            <a:ext cx="35559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الكامل للألبوم حتى القديم منه.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4317892" y="1680170"/>
            <a:ext cx="3555911" cy="2151955"/>
          </a:xfrm>
          <a:prstGeom prst="roundRect">
            <a:avLst>
              <a:gd name="adj" fmla="val 1328"/>
            </a:avLst>
          </a:prstGeom>
          <a:solidFill>
            <a:srgbClr val="292E43"/>
          </a:solidFill>
          <a:ln/>
        </p:spPr>
      </p:sp>
      <p:sp>
        <p:nvSpPr>
          <p:cNvPr id="11" name="Shape 8"/>
          <p:cNvSpPr/>
          <p:nvPr/>
        </p:nvSpPr>
        <p:spPr>
          <a:xfrm>
            <a:off x="7073723" y="1908770"/>
            <a:ext cx="571486" cy="571500"/>
          </a:xfrm>
          <a:prstGeom prst="ellipse">
            <a:avLst/>
          </a:prstGeom>
          <a:solidFill>
            <a:srgbClr val="FF3FB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594" y="2051645"/>
            <a:ext cx="285743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6486" y="2594570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ar-SA" sz="1900" dirty="0"/>
          </a:p>
        </p:txBody>
      </p:sp>
      <p:sp>
        <p:nvSpPr>
          <p:cNvPr id="14" name="Text 10"/>
          <p:cNvSpPr/>
          <p:nvPr/>
        </p:nvSpPr>
        <p:spPr>
          <a:xfrm>
            <a:off x="4546486" y="3051076"/>
            <a:ext cx="309872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التحركات في الخلفية على مدار الساعة.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609585" y="1680170"/>
            <a:ext cx="3555911" cy="2151955"/>
          </a:xfrm>
          <a:prstGeom prst="roundRect">
            <a:avLst>
              <a:gd name="adj" fmla="val 1328"/>
            </a:avLst>
          </a:prstGeom>
          <a:solidFill>
            <a:srgbClr val="292E43"/>
          </a:solidFill>
          <a:ln/>
        </p:spPr>
      </p:sp>
      <p:sp>
        <p:nvSpPr>
          <p:cNvPr id="16" name="Shape 12"/>
          <p:cNvSpPr/>
          <p:nvPr/>
        </p:nvSpPr>
        <p:spPr>
          <a:xfrm>
            <a:off x="3365416" y="1908770"/>
            <a:ext cx="571486" cy="571500"/>
          </a:xfrm>
          <a:prstGeom prst="ellipse">
            <a:avLst/>
          </a:prstGeom>
          <a:solidFill>
            <a:srgbClr val="FF3FB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287" y="2051645"/>
            <a:ext cx="285743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79" y="2594570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الكاميرا والمايك</a:t>
            </a:r>
            <a:endParaRPr lang="ar-SA" sz="1900" dirty="0"/>
          </a:p>
        </p:txBody>
      </p:sp>
      <p:sp>
        <p:nvSpPr>
          <p:cNvPr id="19" name="Text 14"/>
          <p:cNvSpPr/>
          <p:nvPr/>
        </p:nvSpPr>
        <p:spPr>
          <a:xfrm>
            <a:off x="838179" y="3051076"/>
            <a:ext cx="309872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التقاط الصوت والصورة بمجرد تشغيل التطبيق.</a:t>
            </a:r>
            <a:endParaRPr lang="ar-SA" sz="1500" dirty="0"/>
          </a:p>
        </p:txBody>
      </p:sp>
      <p:sp>
        <p:nvSpPr>
          <p:cNvPr id="20" name="Shape 15"/>
          <p:cNvSpPr/>
          <p:nvPr/>
        </p:nvSpPr>
        <p:spPr>
          <a:xfrm>
            <a:off x="609585" y="3959126"/>
            <a:ext cx="10972526" cy="752475"/>
          </a:xfrm>
          <a:prstGeom prst="roundRect">
            <a:avLst>
              <a:gd name="adj" fmla="val 3797"/>
            </a:avLst>
          </a:prstGeom>
          <a:solidFill>
            <a:srgbClr val="80004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80" y="4227413"/>
            <a:ext cx="238119" cy="1905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110" y="4197251"/>
            <a:ext cx="1077250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</a:t>
            </a:r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امنح الإذن فقط عند الحاجة، وأغلق الوصول التلقائي الدائم.</a:t>
            </a:r>
            <a:endParaRPr lang="ar-SA" sz="1500" dirty="0"/>
          </a:p>
        </p:txBody>
      </p:sp>
      <p:pic>
        <p:nvPicPr>
          <p:cNvPr id="23" name="Image 4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979" y="4838601"/>
            <a:ext cx="1629131" cy="523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9585" y="5476776"/>
            <a:ext cx="1097252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u="sng" dirty="0">
                <a:solidFill>
                  <a:srgbClr val="FF3FB4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https://youtu.be/1EHkudu-u0I?si=_qq58TU3bvbNtQBF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A7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وقائية عملية</a:t>
            </a:r>
            <a:endParaRPr lang="ar-SA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2800" spc="-56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حياتك الخاصة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11074222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Text 3"/>
          <p:cNvSpPr/>
          <p:nvPr/>
        </p:nvSpPr>
        <p:spPr>
          <a:xfrm>
            <a:off x="10754547" y="1718270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067573" y="1984970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7" name="Text 5"/>
          <p:cNvSpPr/>
          <p:nvPr/>
        </p:nvSpPr>
        <p:spPr>
          <a:xfrm>
            <a:off x="9067573" y="2118320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مرور قوية</a:t>
            </a:r>
            <a:endParaRPr lang="ar-SA" sz="1900" dirty="0"/>
          </a:p>
        </p:txBody>
      </p:sp>
      <p:sp>
        <p:nvSpPr>
          <p:cNvPr id="8" name="Text 6"/>
          <p:cNvSpPr/>
          <p:nvPr/>
        </p:nvSpPr>
        <p:spPr>
          <a:xfrm>
            <a:off x="9067573" y="2574826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عبارات مرور معقدة وفريدة لكل حساب رئيسي وتجنب التكرار.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7935218" y="1718270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8244" y="1984970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1" name="Text 9"/>
          <p:cNvSpPr/>
          <p:nvPr/>
        </p:nvSpPr>
        <p:spPr>
          <a:xfrm>
            <a:off x="6248244" y="2118320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بخطوتين</a:t>
            </a:r>
            <a:endParaRPr lang="ar-SA" sz="1900" dirty="0"/>
          </a:p>
        </p:txBody>
      </p:sp>
      <p:sp>
        <p:nvSpPr>
          <p:cNvPr id="12" name="Text 10"/>
          <p:cNvSpPr/>
          <p:nvPr/>
        </p:nvSpPr>
        <p:spPr>
          <a:xfrm>
            <a:off x="6248244" y="2574826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فعّل المصادقة الثنائية (2FA) عبر تطبيقات التوثيق وليس الرسائل القصيرة فقط.</a:t>
            </a:r>
            <a:endParaRPr lang="ar-SA" sz="1500" dirty="0"/>
          </a:p>
        </p:txBody>
      </p:sp>
      <p:sp>
        <p:nvSpPr>
          <p:cNvPr id="13" name="Text 11"/>
          <p:cNvSpPr/>
          <p:nvPr/>
        </p:nvSpPr>
        <p:spPr>
          <a:xfrm>
            <a:off x="5115888" y="1718270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8914" y="1984970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5" name="Text 13"/>
          <p:cNvSpPr/>
          <p:nvPr/>
        </p:nvSpPr>
        <p:spPr>
          <a:xfrm>
            <a:off x="3428914" y="2118320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الصلاحيات</a:t>
            </a:r>
            <a:endParaRPr lang="ar-SA" sz="1900" dirty="0"/>
          </a:p>
        </p:txBody>
      </p:sp>
      <p:sp>
        <p:nvSpPr>
          <p:cNvPr id="16" name="Text 14"/>
          <p:cNvSpPr/>
          <p:nvPr/>
        </p:nvSpPr>
        <p:spPr>
          <a:xfrm>
            <a:off x="3428914" y="2574826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ادخل لإعدادات الهاتف شهرياً وألغِ أذونات الكاميرا والموقع للتطبيقات المتروكة.</a:t>
            </a:r>
            <a:endParaRPr lang="ar-SA" sz="1500" dirty="0"/>
          </a:p>
        </p:txBody>
      </p:sp>
      <p:sp>
        <p:nvSpPr>
          <p:cNvPr id="17" name="Text 15"/>
          <p:cNvSpPr/>
          <p:nvPr/>
        </p:nvSpPr>
        <p:spPr>
          <a:xfrm>
            <a:off x="2296559" y="1718270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585" y="1984970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9" name="Text 17"/>
          <p:cNvSpPr/>
          <p:nvPr/>
        </p:nvSpPr>
        <p:spPr>
          <a:xfrm>
            <a:off x="609585" y="2118320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900" spc="-38" kern="100" dirty="0">
                <a:solidFill>
                  <a:srgbClr val="F4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حدّث التطبيقات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609585" y="2574826"/>
            <a:ext cx="251453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5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ثبّت التحديثات الأمنية لنظام التشغيل والتطبيقات فور صدورها لسد الثغرات.</a:t>
            </a:r>
            <a:endParaRPr lang="ar-SA" sz="1500" dirty="0"/>
          </a:p>
        </p:txBody>
      </p:sp>
      <p:sp>
        <p:nvSpPr>
          <p:cNvPr id="21" name="Shape 19"/>
          <p:cNvSpPr/>
          <p:nvPr/>
        </p:nvSpPr>
        <p:spPr>
          <a:xfrm>
            <a:off x="609585" y="5704284"/>
            <a:ext cx="10972526" cy="544116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5882084"/>
            <a:ext cx="1097252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ar-SA" altLang="en-US" sz="1100" dirty="0">
                <a:solidFill>
                  <a:srgbClr val="FF3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أمني:</a:t>
            </a:r>
            <a:pPr rtl="1" algn="r" indent="0" marL="0">
              <a:lnSpc>
                <a:spcPct val="112000"/>
              </a:lnSpc>
              <a:buNone/>
            </a:pPr>
            <a:r>
              <a:rPr lang="ar-SA" altLang="en-US" sz="11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الحماية لا تتطلب برامج خارقة، بل مجرد عادات تقنية بسيطة ومتسقة تمنع 90% من الاختراقات المعتادة.</a:t>
            </a:r>
            <a:endParaRPr lang="ar-SA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270000"/>
            <a:ext cx="6857828" cy="3810000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676400"/>
            <a:ext cx="655303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A7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القول</a:t>
            </a:r>
            <a:endParaRPr lang="ar-SA" sz="1050" dirty="0"/>
          </a:p>
        </p:txBody>
      </p:sp>
      <p:sp>
        <p:nvSpPr>
          <p:cNvPr id="4" name="Text 2"/>
          <p:cNvSpPr/>
          <p:nvPr/>
        </p:nvSpPr>
        <p:spPr>
          <a:xfrm>
            <a:off x="1066773" y="1929110"/>
            <a:ext cx="5943451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8000"/>
              </a:lnSpc>
              <a:buNone/>
            </a:pPr>
            <a:r>
              <a:rPr lang="ar-SA" altLang="en-US" sz="4800" spc="-144" kern="1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ar-SA" sz="4800" dirty="0"/>
          </a:p>
        </p:txBody>
      </p:sp>
      <p:sp>
        <p:nvSpPr>
          <p:cNvPr id="5" name="Text 3"/>
          <p:cNvSpPr/>
          <p:nvPr/>
        </p:nvSpPr>
        <p:spPr>
          <a:xfrm>
            <a:off x="1066773" y="2721570"/>
            <a:ext cx="5943451" cy="84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1000"/>
              </a:lnSpc>
              <a:spcAft>
                <a:spcPts val="1350"/>
              </a:spcAft>
              <a:buNone/>
            </a:pPr>
            <a:r>
              <a:rPr lang="ar-SA" altLang="en-US" sz="18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يربط الخاص بالعام.</a:t>
            </a:r>
            <a:endParaRPr lang="ar-SA" sz="1800" dirty="0"/>
          </a:p>
          <a:p>
            <a:pPr rtl="1" algn="r" indent="0" marL="0">
              <a:lnSpc>
                <a:spcPct val="121000"/>
              </a:lnSpc>
              <a:buNone/>
            </a:pPr>
            <a:r>
              <a:rPr lang="ar-SA" altLang="en-US" sz="1800" dirty="0">
                <a:solidFill>
                  <a:srgbClr val="FF3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استعمله بوعي، واحمِ بياناتك.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066773" y="3785989"/>
            <a:ext cx="5943451" cy="31651"/>
          </a:xfrm>
          <a:prstGeom prst="roundRect">
            <a:avLst>
              <a:gd name="adj" fmla="val 49998"/>
            </a:avLst>
          </a:prstGeom>
          <a:solidFill>
            <a:srgbClr val="2A3358"/>
          </a:solidFill>
          <a:ln/>
        </p:spPr>
      </p:sp>
      <p:sp>
        <p:nvSpPr>
          <p:cNvPr id="7" name="Text 5"/>
          <p:cNvSpPr/>
          <p:nvPr/>
        </p:nvSpPr>
        <p:spPr>
          <a:xfrm>
            <a:off x="1066773" y="4200327"/>
            <a:ext cx="594345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700" spc="-34" kern="100" dirty="0">
                <a:solidFill>
                  <a:srgbClr val="DD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ما زالت لدينا حياة خاصة؟</a:t>
            </a:r>
            <a:endParaRPr lang="ar-SA" sz="1700" dirty="0"/>
          </a:p>
        </p:txBody>
      </p:sp>
      <p:sp>
        <p:nvSpPr>
          <p:cNvPr id="8" name="Text 6"/>
          <p:cNvSpPr/>
          <p:nvPr/>
        </p:nvSpPr>
        <p:spPr>
          <a:xfrm>
            <a:off x="47624" y="6172200"/>
            <a:ext cx="55942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ar-SA" altLang="en-US" sz="1050" spc="21" kern="100" dirty="0">
                <a:solidFill>
                  <a:srgbClr val="A7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بين يديك · نهاية العرض</a:t>
            </a:r>
            <a:endParaRPr lang="ar-SA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3FB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2026-10-04T21:18:48Z</dcterms:created>
  <dcterms:modified xsi:type="dcterms:W3CDTF">2026-10-04T21:18:48Z</dcterms:modified>
</cp:coreProperties>
</file>